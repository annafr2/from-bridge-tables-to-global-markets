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997" autoAdjust="0"/>
  </p:normalViewPr>
  <p:slideViewPr>
    <p:cSldViewPr snapToGrid="0" snapToObjects="1">
      <p:cViewPr varScale="1">
        <p:scale>
          <a:sx n="53" d="100"/>
          <a:sy n="53" d="100"/>
        </p:scale>
        <p:origin x="68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52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0A7F-1966-80CD-D327-E9F41E20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67D73-0013-3AEB-0743-D230D4CFD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DE090-6AD1-8129-4DEA-D42BE126E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9D94D-DDDB-0EEA-F291-EACC0A2D1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61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מפעיל 'כפל' על היריבים בתדירות גבוהה פי 6 עד 8 מהשחקן הממוצע.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מדד </a:t>
            </a:r>
            <a:r>
              <a:rPr lang="he-IL" dirty="0" err="1"/>
              <a:t>ספירמן</a:t>
            </a:r>
            <a:r>
              <a:rPr lang="he-IL" dirty="0"/>
              <a:t> הוא ציון שבודק עד כמה שני דברים שונים זזים ביחד או קשורים זה לזה – כאשר ציון של 1.0 מצביע על "התאמה מושלמת" לחלוטין.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דוגמה פשוטה:</a:t>
            </a:r>
            <a:r>
              <a:rPr lang="he-IL" dirty="0"/>
              <a:t> "המים הם רטובים כי יש בהם לחות". לא באמת הסברנו כלום, פשוט חזרנו על עצמנו.</a:t>
            </a:r>
          </a:p>
          <a:p>
            <a:r>
              <a:rPr lang="he-IL" dirty="0"/>
              <a:t>אם אני נותן לרובוט תג שם שכתוב עליו "אני אגרסיבי", ואז בודק אם הוא אגרסיבי והוא יוצא אגרסיבי – לא גיליתי שום דבר חדש – </a:t>
            </a:r>
            <a:r>
              <a:rPr lang="he-IL" dirty="0" err="1"/>
              <a:t>טאולוגיה</a:t>
            </a:r>
            <a:r>
              <a:rPr lang="he-IL" dirty="0"/>
              <a:t>.</a:t>
            </a:r>
          </a:p>
          <a:p>
            <a:endParaRPr lang="he-IL" dirty="0"/>
          </a:p>
          <a:p>
            <a:r>
              <a:rPr lang="he-IL" dirty="0"/>
              <a:t>לקחנו סוכן שקוראים לו "לוחם", אבל </a:t>
            </a:r>
            <a:r>
              <a:rPr lang="he-IL" b="1" dirty="0"/>
              <a:t>השתלתי לו את המוח</a:t>
            </a:r>
            <a:r>
              <a:rPr lang="he-IL" dirty="0"/>
              <a:t> (את כישורי המשחק) של "שחקן הביטוח" הזהיר. ולהפך – לשחקן הזהיר נתנו מוח של לוחם.</a:t>
            </a:r>
          </a:p>
          <a:p>
            <a:r>
              <a:rPr lang="he-IL" dirty="0"/>
              <a:t>הרובוט שקוראים לו "לוחם" (הכתום) פתאום צנח למטה והפך להיות סופר-זהיר במשא ומתן. למה? כי למרות השם ה"מפחיד" שלו, המוח שלו עכשיו הוא מוח של שחקן זהיר.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אין נתונים על </a:t>
            </a:r>
            <a:r>
              <a:rPr lang="he-IL" b="1" dirty="0"/>
              <a:t>אותו אדם ספציפי</a:t>
            </a:r>
            <a:r>
              <a:rPr lang="he-IL" dirty="0"/>
              <a:t> שעשה גם וגם. כלומר, אין את "יוסי" שגם צפינו בו משחק ברידג' וגם קראנו את המשא ומתן שלו </a:t>
            </a:r>
            <a:r>
              <a:rPr lang="he-IL" dirty="0" err="1"/>
              <a:t>בקרייגסליסט</a:t>
            </a:r>
            <a:r>
              <a:rPr lang="he-IL" dirty="0"/>
              <a:t>. </a:t>
            </a:r>
          </a:p>
          <a:p>
            <a:r>
              <a:rPr lang="he-IL" dirty="0"/>
              <a:t>בנינו את מודל הפרופילים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1) הביטוי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a|s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he-IL" dirty="0"/>
              <a:t> אומר "הסיכוי לבחור בפעולה מסוימת במצב נתון".</a:t>
            </a:r>
          </a:p>
          <a:p>
            <a:r>
              <a:rPr lang="he-IL" dirty="0"/>
              <a:t> הצד השני של המשוואה אומר פשוט "1 חלקי מספר הפעולות החוקיות שאפשר לעשות כרגע-רולטה עיוורת מתוך מה שמותר.</a:t>
            </a:r>
          </a:p>
          <a:p>
            <a:endParaRPr lang="he-IL" dirty="0"/>
          </a:p>
          <a:p>
            <a:r>
              <a:rPr lang="he-IL" dirty="0"/>
              <a:t>2) הנוסחה הזו מודדת כמה "חצופה" או אגרסיבית הייתה הצעת הפתיחה של הסוכן שלנו כשהוא מנהל משא ומתן.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P-ask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המחיר המקורי שהמוכר ביקש.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P-open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הצעת הפתיחה (הנגדית) של הסוכן שלנו.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P-floor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המחיר הכי נמוך שהמוכר באמת מוכן לרדת אליו (ה"רצפה").</a:t>
            </a:r>
          </a:p>
          <a:p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חישוב הלימה בין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ברידג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ומשא ומתן</a:t>
            </a:r>
          </a:p>
          <a:p>
            <a:r>
              <a:rPr lang="he-IL" dirty="0"/>
              <a:t>מציבים בנוסחה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=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dirty="0"/>
              <a:t>כי במודל יש בדיוק 5 פרופילים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פעם בין מיקום שחקן בטבלה בליגת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ברידג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לבין מיקום אותו שחקן במשא ומתן.</a:t>
            </a:r>
          </a:p>
          <a:p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פרופילים – 1 הכי אגרסיבי . 5 הכי פחות.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ברידג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ובפעם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השניה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במשא ומתן.</a:t>
            </a:r>
          </a:p>
          <a:p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ההפרש בין המקומות של כל שחקן.</a:t>
            </a:r>
          </a:p>
          <a:p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212080"/>
            <a:ext cx="2194560" cy="2194560"/>
          </a:xfrm>
          <a:prstGeom prst="roundRect">
            <a:avLst>
              <a:gd name="adj" fmla="val 20833"/>
            </a:avLst>
          </a:prstGeom>
          <a:solidFill>
            <a:srgbClr val="2C5F8A">
              <a:alpha val="2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10881360" y="-640080"/>
            <a:ext cx="2011680" cy="2011680"/>
          </a:xfrm>
          <a:prstGeom prst="roundRect">
            <a:avLst>
              <a:gd name="adj" fmla="val 22727"/>
            </a:avLst>
          </a:prstGeom>
          <a:solidFill>
            <a:srgbClr val="2C5F8A">
              <a:alpha val="1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3078328" y="1325880"/>
            <a:ext cx="603504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docs/images/negoplay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254" y="1645920"/>
            <a:ext cx="4817188" cy="1417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033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מטבלאות ברידג׳ לשולחן המשא ומתן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האם סגנון קבלת ההחלטות עובר בין תחומים שונים?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kern="0" spc="1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אנה </a:t>
            </a:r>
            <a:r>
              <a:rPr lang="en-US" sz="1300" kern="0" spc="1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בן־שושן</a:t>
            </a:r>
            <a:r>
              <a:rPr lang="en-US" sz="1300" kern="0" spc="1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</a:t>
            </a:r>
            <a:r>
              <a:rPr lang="en-US" sz="1300" kern="0" spc="1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קורס</a:t>
            </a:r>
            <a:r>
              <a:rPr lang="en-US" sz="1300" kern="0" spc="1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Development Expert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המוטיבציה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הבעיה: משא ומתן הוא קופסה שחורה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משא ומתן עסקי הוא מהמיומנויות החשובות </a:t>
            </a:r>
            <a:r>
              <a:rPr lang="en-US" sz="16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בתעשייה</a:t>
            </a: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אך כמעט בלתי אפשרי לחקור כמותית.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התמלילים חסויים, התוצאות אינן מתוקננות, ואין דאטה ציבורית שמקשרת בין סגנון קבלת ההחלטות של אדם להתנהגותו במשא ומתן.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אין דרך טבעית למדוד “סגנון” ולבדוק אם הוא עקבי בין מצבים.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39776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30936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הפתרון: ברידג׳ כמעבדה התנהגותית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4617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 יד היא רצף של החלטות תחת </a:t>
            </a:r>
            <a:r>
              <a:rPr lang="en-US" sz="14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אי־ודאות</a:t>
            </a: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endParaRPr lang="en-US" sz="1400" dirty="0">
              <a:solidFill>
                <a:srgbClr val="CADCFC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r" rtl="1">
              <a:buNone/>
            </a:pPr>
            <a:r>
              <a:rPr lang="en-US" sz="14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כמה</a:t>
            </a: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להתחייב, מתי לקחת סיכון, מתי </a:t>
            </a:r>
            <a:r>
              <a:rPr lang="en-US" sz="14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להילחם</a:t>
            </a: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ולכל</a:t>
            </a: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החלטה יש תוצאה מדידה. </a:t>
            </a:r>
          </a:p>
          <a:p>
            <a:pPr marL="0" indent="0" algn="r" rtl="1">
              <a:buNone/>
            </a:pPr>
            <a:r>
              <a:rPr lang="en-US" sz="14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בדיוק</a:t>
            </a: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מה שחסר במשא ומתן.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2743200"/>
            <a:ext cx="2286000" cy="1463040"/>
          </a:xfrm>
          <a:prstGeom prst="roundRect">
            <a:avLst>
              <a:gd name="adj" fmla="val 8750"/>
            </a:avLst>
          </a:prstGeom>
          <a:solidFill>
            <a:srgbClr val="16324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2461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ברידג׳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המעבדה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286000" cy="1463040"/>
          </a:xfrm>
          <a:prstGeom prst="roundRect">
            <a:avLst>
              <a:gd name="adj" fmla="val 8750"/>
            </a:avLst>
          </a:prstGeom>
          <a:solidFill>
            <a:srgbClr val="2C5F8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משא ומתן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היעד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880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ארכיטקטורה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איך זה עובד — צינור בן ארבעה שלבים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54516" y="23774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6324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073488" y="199339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073488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245956" y="3017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גילוי פרופילים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19108" y="35661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‎ 149,208 ידיים ← 8 מאפיינים לכל שחקן (ML)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07044" y="3200400"/>
            <a:ext cx="39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46724" y="23774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2C5F8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7165696" y="199339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7165696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38164" y="3017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חילוץ מיומנויות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1316" y="35661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ידיים אמיתיות ← 5–7 מיומנויות מובנות (LLM)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9252" y="3200400"/>
            <a:ext cx="39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338932" y="23774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6324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4257904" y="199339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4257904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30372" y="3017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בניית סוכנים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03524" y="35661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 פרופיל ← </a:t>
            </a:r>
            <a:r>
              <a:rPr lang="en-US" sz="12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סוכןLLM</a:t>
            </a: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</a:t>
            </a:r>
            <a:r>
              <a:rPr lang="he-IL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עם תכונה של</a:t>
            </a: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דמות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91460" y="3200400"/>
            <a:ext cx="39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31140" y="23774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2C5F8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1350112" y="199339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135011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22580" y="3017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סימולציה והצלבה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5732" y="356616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ברידג</a:t>
            </a: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׳+</a:t>
            </a:r>
            <a:r>
              <a:rPr lang="en-US" sz="120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משא</a:t>
            </a: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ומתן ← מתאם בין־תחומי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4343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שלב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</a:t>
            </a:r>
          </a:p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גילוי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פרופילים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והממצא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המפתיע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6271616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0" descr="docs/images/clustering_kmeans_f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997296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1920239"/>
            <a:ext cx="4572000" cy="379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400" b="1" dirty="0"/>
              <a:t>סינון והכנת הנתונים:</a:t>
            </a:r>
          </a:p>
          <a:p>
            <a:pPr algn="r" rtl="1"/>
            <a:endParaRPr lang="he-IL" sz="1400" dirty="0"/>
          </a:p>
          <a:p>
            <a:pPr lvl="1" algn="r" rtl="1"/>
            <a:r>
              <a:rPr lang="he-IL" sz="1400" b="1" dirty="0"/>
              <a:t>Z-</a:t>
            </a:r>
            <a:r>
              <a:rPr lang="he-IL" sz="1400" b="1" dirty="0" err="1"/>
              <a:t>Score</a:t>
            </a:r>
            <a:r>
              <a:rPr lang="he-IL" sz="1400" b="1" dirty="0"/>
              <a:t> (יישור קו):</a:t>
            </a:r>
            <a:r>
              <a:rPr lang="he-IL" sz="1400" dirty="0"/>
              <a:t> המרת כל הנתונים לסקאלה אחידה כדי שנוכל להשוות "תפוחים לתפוחים".</a:t>
            </a:r>
          </a:p>
          <a:p>
            <a:pPr lvl="1" algn="r" rtl="1"/>
            <a:r>
              <a:rPr lang="he-IL" sz="1400" b="1" dirty="0"/>
              <a:t>CV (מדד שונות):</a:t>
            </a:r>
            <a:r>
              <a:rPr lang="he-IL" sz="1400" dirty="0"/>
              <a:t> סינון החוצה של נתונים בהם כל השחקנים מתנהגים אותו דבר, והשארת רק מאפיינים שבאמת מבדילים ביניהם.</a:t>
            </a:r>
          </a:p>
          <a:p>
            <a:pPr lvl="1" algn="r" rtl="1"/>
            <a:endParaRPr lang="he-IL" sz="1400" dirty="0"/>
          </a:p>
          <a:p>
            <a:pPr algn="r" rtl="1"/>
            <a:r>
              <a:rPr lang="he-IL" sz="1400" b="1" dirty="0"/>
              <a:t>הממצא המרכזי:</a:t>
            </a:r>
            <a:r>
              <a:rPr lang="he-IL" sz="1400" dirty="0"/>
              <a:t> השחקנים לא מתחלקים לקבוצות נפרדות, אלא נמצאים על </a:t>
            </a:r>
            <a:r>
              <a:rPr lang="he-IL" sz="1400" b="1" dirty="0"/>
              <a:t>רצף התנהגותי</a:t>
            </a:r>
            <a:r>
              <a:rPr lang="he-IL" sz="1400" dirty="0"/>
              <a:t> אחד.</a:t>
            </a:r>
          </a:p>
          <a:p>
            <a:pPr algn="r" rtl="1"/>
            <a:endParaRPr lang="he-IL" sz="1400" dirty="0"/>
          </a:p>
          <a:p>
            <a:pPr algn="r" rtl="1"/>
            <a:r>
              <a:rPr lang="he-IL" sz="1400" b="1" dirty="0"/>
              <a:t>המודל שלנו:</a:t>
            </a:r>
            <a:r>
              <a:rPr lang="he-IL" sz="1400" dirty="0"/>
              <a:t> כדי למפות את הרצף, בנינו מודל של 5 פרופילים: 4 "ארכיטיפים" (בקצוות הרצף) + שחקן אחד "כללי" (</a:t>
            </a:r>
            <a:r>
              <a:rPr lang="he-IL" sz="1400" dirty="0" err="1"/>
              <a:t>Generalist</a:t>
            </a:r>
            <a:r>
              <a:rPr lang="he-IL" sz="1400" dirty="0"/>
              <a:t>) שיושב באמצע.</a:t>
            </a:r>
          </a:p>
        </p:txBody>
      </p:sp>
      <p:sp>
        <p:nvSpPr>
          <p:cNvPr id="10" name="Text 7"/>
          <p:cNvSpPr/>
          <p:nvPr/>
        </p:nvSpPr>
        <p:spPr>
          <a:xfrm>
            <a:off x="7132320" y="4937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− μ) / σ        CV = σ / |μ| ≥ 0.10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B6415-C343-A021-C77C-CB7B0D04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09A5CB-54EE-89D4-9215-F71E5951BC9F}"/>
              </a:ext>
            </a:extLst>
          </p:cNvPr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7CBE2B-9522-D578-F86F-33A2421A8713}"/>
              </a:ext>
            </a:extLst>
          </p:cNvPr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796AAA-71CD-402F-DA2A-7F85F5064972}"/>
              </a:ext>
            </a:extLst>
          </p:cNvPr>
          <p:cNvSpPr/>
          <p:nvPr/>
        </p:nvSpPr>
        <p:spPr>
          <a:xfrm>
            <a:off x="548640" y="4343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000" b="1" dirty="0" err="1">
                <a:solidFill>
                  <a:srgbClr val="16324F"/>
                </a:solidFill>
                <a:latin typeface="Segoe UI" pitchFamily="34" charset="0"/>
                <a:cs typeface="Segoe UI" pitchFamily="34" charset="-120"/>
              </a:rPr>
              <a:t>הפיצ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cs typeface="Segoe UI" pitchFamily="34" charset="-120"/>
              </a:rPr>
              <a:t>'</a:t>
            </a:r>
            <a:r>
              <a:rPr lang="he-IL" sz="3000" b="1" dirty="0" err="1">
                <a:solidFill>
                  <a:srgbClr val="16324F"/>
                </a:solidFill>
                <a:latin typeface="Segoe UI" pitchFamily="34" charset="0"/>
                <a:cs typeface="Segoe UI" pitchFamily="34" charset="-120"/>
              </a:rPr>
              <a:t>רים</a:t>
            </a:r>
            <a:r>
              <a:rPr lang="he-IL" sz="3000" b="1" dirty="0">
                <a:solidFill>
                  <a:srgbClr val="16324F"/>
                </a:solidFill>
                <a:latin typeface="Segoe UI" pitchFamily="34" charset="0"/>
                <a:cs typeface="Segoe UI" pitchFamily="34" charset="-120"/>
              </a:rPr>
              <a:t> שלי</a:t>
            </a:r>
            <a:endParaRPr lang="en-US" sz="3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7A570E4-5FED-4C9F-6FE4-A26EE20E82D1}"/>
              </a:ext>
            </a:extLst>
          </p:cNvPr>
          <p:cNvSpPr/>
          <p:nvPr/>
        </p:nvSpPr>
        <p:spPr>
          <a:xfrm>
            <a:off x="7132320" y="4937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− μ) / σ        CV = σ / |μ| ≥ 0.10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4C63558-ED27-95F2-BC5C-33F3B381550D}"/>
              </a:ext>
            </a:extLst>
          </p:cNvPr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79E889D-F1A3-C23D-FFE4-04A609FB3100}"/>
              </a:ext>
            </a:extLst>
          </p:cNvPr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68C1B54A-CB6F-D9CB-FD29-3C1AE7C52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110" y="411480"/>
            <a:ext cx="5607338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6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התוצר של שלב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חמשת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הפרופילים-קבוצת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הבסיס האסטרטגית</a:t>
            </a:r>
            <a:endParaRPr lang="en-US" sz="3000" dirty="0"/>
          </a:p>
        </p:txBody>
      </p:sp>
      <p:pic>
        <p:nvPicPr>
          <p:cNvPr id="6" name="Image 0" descr="docs/images/radar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4638227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75720" y="2075688"/>
            <a:ext cx="182880" cy="182880"/>
          </a:xfrm>
          <a:prstGeom prst="ellipse">
            <a:avLst/>
          </a:prstGeom>
          <a:solidFill>
            <a:srgbClr val="D6272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8595360" y="196596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Slam Hunter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52160" y="226771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צייד 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סלאמים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אגרסיבי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מכריז חוזים גבוהים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475720" y="2880360"/>
            <a:ext cx="182880" cy="182880"/>
          </a:xfrm>
          <a:prstGeom prst="ellipse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8595360" y="2770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Fighter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52160" y="3072384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לוחם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מכפ</a:t>
            </a:r>
            <a:r>
              <a:rPr lang="he-IL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יל דאבל ליריבים 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בתדירות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גבוהה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1475720" y="3685032"/>
            <a:ext cx="182880" cy="182880"/>
          </a:xfrm>
          <a:prstGeom prst="ellipse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8595360" y="357530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 Specialist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52160" y="387705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מומחה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NT</a:t>
            </a:r>
            <a:r>
              <a:rPr lang="he-IL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מעדיף משחק ללא שליט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1475720" y="4489704"/>
            <a:ext cx="182880" cy="182880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8595360" y="437997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Player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852160" y="468172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שחקן 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ביטוח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שמרן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עוצר מתחת למשחק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1475720" y="5294376"/>
            <a:ext cx="182880" cy="182880"/>
          </a:xfrm>
          <a:prstGeom prst="ellipse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8595360" y="51846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Generalist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52160" y="548640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בסיס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</a:t>
            </a:r>
            <a:r>
              <a:rPr lang="en-US" sz="125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מרכז</a:t>
            </a: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ההתפלגות, נקודת ההשוואה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52160" y="58064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 שחקן אמיתי הוא תערובת של הארכיטיפים האלה (cardinal set).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3886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שלבים 2–3 </a:t>
            </a:r>
          </a:p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ממיומנויות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לסוכנים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89320" y="187452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1430000" y="1874520"/>
            <a:ext cx="228600" cy="914400"/>
          </a:xfrm>
          <a:prstGeom prst="roundRect">
            <a:avLst>
              <a:gd name="adj" fmla="val 20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17220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חילוץ מיומנויות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22677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ידיים אמיתיות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נשלחות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לLLM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בחבילות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שמחזיר 5–7 </a:t>
            </a:r>
            <a:r>
              <a:rPr lang="he-IL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מיומנויות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אופייניות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כ־JSON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מובנה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292608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11430000" y="2926080"/>
            <a:ext cx="228600" cy="914400"/>
          </a:xfrm>
          <a:prstGeom prst="roundRect">
            <a:avLst>
              <a:gd name="adj" fmla="val 20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617220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כרטיס דמות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3319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 פרופיל הופך לסוכן. הכרטיס מכיל רק מיומנויות שחולצו מברידג׳ -</a:t>
            </a:r>
            <a:r>
              <a:rPr lang="he-IL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לעולם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לא תארי אישיות.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397764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11430000" y="3977640"/>
            <a:ext cx="228600" cy="914400"/>
          </a:xfrm>
          <a:prstGeom prst="roundRect">
            <a:avLst>
              <a:gd name="adj" fmla="val 20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1722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הכלל המרכזי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437083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התנהגות חוצת־תחומים חייבת לנבוע מהמיומנויות, לא מהתווית.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502920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11430000" y="5029200"/>
            <a:ext cx="228600" cy="914400"/>
          </a:xfrm>
          <a:prstGeom prst="roundRect">
            <a:avLst>
              <a:gd name="adj" fmla="val 20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17220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טמפרטורה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542239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ברידג׳ ב0 </a:t>
            </a:r>
            <a:r>
              <a:rPr lang="he-IL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עקביות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משא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ומתן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ב0.7 </a:t>
            </a:r>
            <a:r>
              <a:rPr lang="he-IL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גיוון</a:t>
            </a:r>
            <a:r>
              <a:rPr lang="en-US" sz="12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כל קריאה נרשמת ומתומחרת.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228600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דוגמה — כרטיס דמות (Fighter)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"doubles opponents at 6–8× the field rate"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עובדה שחולצה ממכרזים אמיתיים, לא “</a:t>
            </a:r>
            <a:r>
              <a:rPr lang="en-US" sz="125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היה</a:t>
            </a:r>
            <a:r>
              <a:rPr lang="en-US" sz="12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אגרסיב</a:t>
            </a:r>
            <a:r>
              <a:rPr lang="he-IL" sz="12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י"  </a:t>
            </a:r>
            <a:r>
              <a:rPr lang="en-US" sz="1250" dirty="0" err="1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כך</a:t>
            </a:r>
            <a:r>
              <a:rPr lang="en-US" sz="12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התנהגות חייבת לצמוח מהנתונים.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615440" y="402336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שלב</a:t>
            </a: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</a:t>
            </a: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he-IL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b="1" kern="0" spc="100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אימות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מדד ברידג׳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אמין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סוכן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אקראי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3000" dirty="0"/>
          </a:p>
        </p:txBody>
      </p:sp>
      <p:pic>
        <p:nvPicPr>
          <p:cNvPr id="6" name="Image 0" descr="docs/images/metric_fix_monkey_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517" y="1600200"/>
            <a:ext cx="7380662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5532120"/>
            <a:ext cx="99971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מדד טוב חייב לדרג סוכן אקראי אחרון. המדד הראשוני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נכשל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הקוף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ניצח (0.54)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.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אחרי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ניקוד לפי האם החוזה באמת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מצליח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double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dummy הקוף צונח לאחרון (0.10) 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וכל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פרופיל מנצח אותו.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ברידג׳ ← משא ומתן 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שלב4 </a:t>
            </a:r>
            <a:r>
              <a:rPr lang="he-IL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b="1" kern="0" spc="100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נתונים</a:t>
            </a: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אמיתיים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ספקטרום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הכישורים-מאקראי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ועד משחק מושלם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96225" y="1554480"/>
            <a:ext cx="8399244" cy="3694176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0" descr="docs/images/real_skill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953" y="1664208"/>
            <a:ext cx="8179788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557784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400" dirty="0"/>
              <a:t>הגרף מציג לנו סולם ציונים, מהגרוע ביותר למושלם:</a:t>
            </a:r>
          </a:p>
          <a:p>
            <a:pPr algn="r" rtl="1"/>
            <a:r>
              <a:rPr lang="he-IL" sz="1400" b="1" dirty="0"/>
              <a:t>התחתית (מינוס 7 נקודות): הסוכן האקראי (ZI-C).</a:t>
            </a:r>
            <a:r>
              <a:rPr lang="he-IL" sz="1400" dirty="0"/>
              <a:t> ה"קוף" שזורק קלפים בלי לחשוב.</a:t>
            </a:r>
          </a:p>
          <a:p>
            <a:pPr algn="r" rtl="1"/>
            <a:r>
              <a:rPr lang="he-IL" sz="1400" b="1" dirty="0"/>
              <a:t>האמצע (נקודת האפס): שחקני העילית.</a:t>
            </a:r>
            <a:r>
              <a:rPr lang="he-IL" sz="1400" dirty="0"/>
              <a:t> כאן נמצאים המקצוענים האמיתיים שלנו.</a:t>
            </a:r>
          </a:p>
          <a:p>
            <a:pPr algn="r" rtl="1"/>
            <a:r>
              <a:rPr lang="he-IL" sz="1400" b="1" dirty="0"/>
              <a:t>הפסגה (פלוס 1.1 נקודות): משחק מושלם.</a:t>
            </a:r>
            <a:r>
              <a:rPr lang="he-IL" sz="1400" dirty="0"/>
              <a:t> תיאוריה של מחשב אידאלי שלא עושה אף טעות.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התוצאה המרכזית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התגלית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</a:t>
            </a:r>
            <a:r>
              <a:rPr lang="he-IL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הסגנון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עובר בין תחומים</a:t>
            </a:r>
            <a:endParaRPr lang="en-US" sz="3000" dirty="0"/>
          </a:p>
        </p:txBody>
      </p:sp>
      <p:pic>
        <p:nvPicPr>
          <p:cNvPr id="6" name="Image 0" descr="docs/images/style_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949456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965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 = +0.80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12648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מתאם דרגות </a:t>
            </a:r>
            <a:r>
              <a:rPr lang="en-US" sz="130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ספירמן</a:t>
            </a:r>
            <a:r>
              <a:rPr lang="en-US" sz="13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3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1.0 = </a:t>
            </a:r>
            <a:r>
              <a:rPr lang="en-US" sz="130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התאמה</a:t>
            </a:r>
            <a:r>
              <a:rPr lang="en-US" sz="13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מושלמת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34747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מי שאגרסיבי בברידג׳ ,מתמקח אגרסיבי במשא ומתן.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מי ששמרן בברידג׳ ,נשאר שמרן במשא ומתן.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מעל היעד שנקבע מראש (0.70) </a:t>
            </a:r>
            <a:r>
              <a:rPr lang="he-IL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הסגנון</a:t>
            </a:r>
            <a:r>
              <a:rPr lang="en-US" sz="16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עובר חזק.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ברידג׳ ← משא ומתן AI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615285" y="193033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בקרה -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האם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זה לא טאוטולוגי?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120003" y="1554480"/>
            <a:ext cx="7951689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0" descr="docs/images/style_transfer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31" y="1664208"/>
            <a:ext cx="7732233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440680"/>
            <a:ext cx="103628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החלפנו לכל פרופיל את מיומנויות הברידג׳ עם אלו של הפרופיל </a:t>
            </a:r>
            <a:r>
              <a:rPr lang="en-US" sz="1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ההפוך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המתאם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התהפך מ־+0.80 ל־</a:t>
            </a:r>
            <a:r>
              <a:rPr lang="en-US" sz="1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 = −0.90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 marL="0" indent="0" algn="r" rtl="1">
              <a:buNone/>
            </a:pP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מסקנה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ההתנהגות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נישאת בידי המיומנויות מהברידג׳, לא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בידי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התווית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תובנה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ניצחון מול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סגנון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</a:t>
            </a: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ההבחנה</a:t>
            </a: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החשובה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0" y="1920240"/>
            <a:ext cx="521208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212080" cy="64008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סגנון (Style)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 = +0.80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67512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חזק ומבוקר. סוכן אגרסיבי בברידג׳ מתנהג אגרסיבי במשא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ומתן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הסגנון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עובר.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521208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594360" y="1920240"/>
            <a:ext cx="5212080" cy="640080"/>
          </a:xfrm>
          <a:prstGeom prst="rect">
            <a:avLst/>
          </a:prstGeom>
          <a:solidFill>
            <a:srgbClr val="6B77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77724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ניצחון (Winning)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ρ ≈ +0.2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רועש ותלוי־יריב. 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האם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סגנון מנצח תלוי בכללי התמורה </a:t>
            </a:r>
            <a:r>
              <a:rPr lang="en-US" sz="14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ובמתנגד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</a:t>
            </a:r>
            <a:r>
              <a:rPr lang="en-US" sz="14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ולכן לא עובר נקי.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5074920"/>
            <a:ext cx="685800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2651760" y="50749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השורה התחתונה: הסגנון עובר חזק; הניצחון רועש.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ברידג׳ ← משא ומתן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49436" y="2286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מגבלות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920240"/>
            <a:ext cx="9784080" cy="123444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12648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חמישה פרופילים בלבד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ההספק הסטטיסטי נמוך והמובהקות אינה </a:t>
            </a:r>
            <a:r>
              <a:rPr lang="en-US" sz="13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מספקת</a:t>
            </a: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, </a:t>
            </a:r>
            <a:r>
              <a:rPr lang="he-IL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המתאם</a:t>
            </a: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הוא אינדיקציה חזקה, לא הוכחה. </a:t>
            </a:r>
            <a:r>
              <a:rPr lang="he-IL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337560"/>
            <a:ext cx="9784080" cy="123444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12648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משא ומתן מדומה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התנהגות המוכר כוילה על 5,247 </a:t>
            </a:r>
            <a:r>
              <a:rPr lang="he-IL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משאי־ומתן</a:t>
            </a: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אמיתיים</a:t>
            </a: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he-IL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(Craigslist) </a:t>
            </a:r>
            <a:r>
              <a:rPr lang="he-IL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אך</a:t>
            </a:r>
            <a:r>
              <a:rPr lang="en-US" sz="1300" dirty="0">
                <a:solidFill>
                  <a:srgbClr val="1F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אין דאטה אמיתית של אותו אדם בשני התחומים.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1377879" y="557784"/>
            <a:ext cx="164592" cy="16459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פורמליזציה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המתמטיקה במבט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74520"/>
            <a:ext cx="9784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744200" y="1874520"/>
            <a:ext cx="228600" cy="1325880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03504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מדיניות הסוכן </a:t>
            </a:r>
            <a:r>
              <a:rPr lang="en-US" sz="15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האקראי</a:t>
            </a: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ZI-C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בחירה אחידה מתוך הפעולות החוקיות בלבד.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π(a|s) = 1 / |A_legal(s)|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88720" y="3355848"/>
            <a:ext cx="9784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10744200" y="3355848"/>
            <a:ext cx="228600" cy="1325880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0350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עומק הדרישה במשא ומתן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39044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כמה נמוך הסוכן פותח, על פני טווח הוויתור של המוכר.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3675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(P_ask − P_open) / (P_ask − P_floor)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4837176"/>
            <a:ext cx="9784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10744200" y="4837176"/>
            <a:ext cx="228600" cy="1325880"/>
          </a:xfrm>
          <a:prstGeom prst="rect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6035040" y="4956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מתאם דרגות ספירמן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538581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ההלימה בין דירוג האגרסיביות בשני התחומים.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71600" y="515721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1 − 6Σd² / [K(K²−1)],  K = 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632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</a:t>
            </a:r>
            <a:r>
              <a:rPr lang="en-US" sz="1000" b="1" dirty="0" err="1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1319</Words>
  <Application>Microsoft Office PowerPoint</Application>
  <PresentationFormat>מסך רחב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</vt:lpstr>
      <vt:lpstr>Consolas</vt:lpstr>
      <vt:lpstr>Segoe UI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NegoPlay — From Bridge to Negotiation</dc:title>
  <dc:subject>PptxGenJS Presentation</dc:subject>
  <dc:creator>Anna Ben-Shushan</dc:creator>
  <cp:lastModifiedBy>anna frankenberg</cp:lastModifiedBy>
  <cp:revision>13</cp:revision>
  <dcterms:created xsi:type="dcterms:W3CDTF">2026-06-17T17:24:37Z</dcterms:created>
  <dcterms:modified xsi:type="dcterms:W3CDTF">2026-06-18T07:57:10Z</dcterms:modified>
</cp:coreProperties>
</file>